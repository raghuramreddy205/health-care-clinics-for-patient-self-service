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0"/>
  </p:notesMasterIdLst>
  <p:sldIdLst>
    <p:sldId id="256" r:id="rId2"/>
    <p:sldId id="286" r:id="rId3"/>
    <p:sldId id="283" r:id="rId4"/>
    <p:sldId id="284" r:id="rId5"/>
    <p:sldId id="287" r:id="rId6"/>
    <p:sldId id="288" r:id="rId7"/>
    <p:sldId id="289" r:id="rId8"/>
    <p:sldId id="285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C010ED-0683-4501-BDEE-4073BB63D88D}" v="21" dt="2026-10-08T03:24:16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1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1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Reddy" userId="333efcd0544bb6ea" providerId="LiveId" clId="{C2A59028-725E-4941-ADB4-0C54A3394255}"/>
    <pc:docChg chg="undo custSel addSld delSld modSld sldOrd">
      <pc:chgData name="Prem Reddy" userId="333efcd0544bb6ea" providerId="LiveId" clId="{C2A59028-725E-4941-ADB4-0C54A3394255}" dt="2026-10-08T03:24:16.907" v="69"/>
      <pc:docMkLst>
        <pc:docMk/>
      </pc:docMkLst>
      <pc:sldChg chg="addSp delSp mod">
        <pc:chgData name="Prem Reddy" userId="333efcd0544bb6ea" providerId="LiveId" clId="{C2A59028-725E-4941-ADB4-0C54A3394255}" dt="2026-10-08T03:18:18.107" v="25" actId="22"/>
        <pc:sldMkLst>
          <pc:docMk/>
          <pc:sldMk cId="0" sldId="256"/>
        </pc:sldMkLst>
        <pc:spChg chg="add del">
          <ac:chgData name="Prem Reddy" userId="333efcd0544bb6ea" providerId="LiveId" clId="{C2A59028-725E-4941-ADB4-0C54A3394255}" dt="2026-10-08T03:18:18.107" v="25" actId="22"/>
          <ac:spMkLst>
            <pc:docMk/>
            <pc:sldMk cId="0" sldId="256"/>
            <ac:spMk id="3" creationId="{2F65A3EB-C73D-D13A-54E2-FABF1234C6F6}"/>
          </ac:spMkLst>
        </pc:spChg>
      </pc:sldChg>
      <pc:sldChg chg="del">
        <pc:chgData name="Prem Reddy" userId="333efcd0544bb6ea" providerId="LiveId" clId="{C2A59028-725E-4941-ADB4-0C54A3394255}" dt="2026-10-08T03:16:30.598" v="21" actId="47"/>
        <pc:sldMkLst>
          <pc:docMk/>
          <pc:sldMk cId="0" sldId="282"/>
        </pc:sldMkLst>
      </pc:sldChg>
      <pc:sldChg chg="addSp delSp modSp mod">
        <pc:chgData name="Prem Reddy" userId="333efcd0544bb6ea" providerId="LiveId" clId="{C2A59028-725E-4941-ADB4-0C54A3394255}" dt="2026-10-08T03:21:14.021" v="48" actId="22"/>
        <pc:sldMkLst>
          <pc:docMk/>
          <pc:sldMk cId="4063204851" sldId="284"/>
        </pc:sldMkLst>
        <pc:spChg chg="mod">
          <ac:chgData name="Prem Reddy" userId="333efcd0544bb6ea" providerId="LiveId" clId="{C2A59028-725E-4941-ADB4-0C54A3394255}" dt="2026-10-08T03:20:35.474" v="44" actId="207"/>
          <ac:spMkLst>
            <pc:docMk/>
            <pc:sldMk cId="4063204851" sldId="284"/>
            <ac:spMk id="2" creationId="{B78E78C5-B03B-A00B-CAA3-0919096F4B87}"/>
          </ac:spMkLst>
        </pc:spChg>
        <pc:spChg chg="add del">
          <ac:chgData name="Prem Reddy" userId="333efcd0544bb6ea" providerId="LiveId" clId="{C2A59028-725E-4941-ADB4-0C54A3394255}" dt="2026-10-08T03:21:14.021" v="48" actId="22"/>
          <ac:spMkLst>
            <pc:docMk/>
            <pc:sldMk cId="4063204851" sldId="284"/>
            <ac:spMk id="4" creationId="{0837012A-15BB-F741-ED73-94DD00BFF937}"/>
          </ac:spMkLst>
        </pc:spChg>
        <pc:spChg chg="mod">
          <ac:chgData name="Prem Reddy" userId="333efcd0544bb6ea" providerId="LiveId" clId="{C2A59028-725E-4941-ADB4-0C54A3394255}" dt="2026-10-08T03:20:47.772" v="46"/>
          <ac:spMkLst>
            <pc:docMk/>
            <pc:sldMk cId="4063204851" sldId="284"/>
            <ac:spMk id="6146" creationId="{709880B3-0326-03D2-6C4E-049A26282337}"/>
          </ac:spMkLst>
        </pc:spChg>
      </pc:sldChg>
      <pc:sldChg chg="modSp add mod ord">
        <pc:chgData name="Prem Reddy" userId="333efcd0544bb6ea" providerId="LiveId" clId="{C2A59028-725E-4941-ADB4-0C54A3394255}" dt="2026-10-08T03:19:43.979" v="40" actId="255"/>
        <pc:sldMkLst>
          <pc:docMk/>
          <pc:sldMk cId="1594699679" sldId="286"/>
        </pc:sldMkLst>
        <pc:spChg chg="mod">
          <ac:chgData name="Prem Reddy" userId="333efcd0544bb6ea" providerId="LiveId" clId="{C2A59028-725E-4941-ADB4-0C54A3394255}" dt="2026-10-08T03:19:18.660" v="37" actId="207"/>
          <ac:spMkLst>
            <pc:docMk/>
            <pc:sldMk cId="1594699679" sldId="286"/>
            <ac:spMk id="2" creationId="{592D70B3-14D4-B059-776F-75FCC4AB5E0D}"/>
          </ac:spMkLst>
        </pc:spChg>
        <pc:spChg chg="mod">
          <ac:chgData name="Prem Reddy" userId="333efcd0544bb6ea" providerId="LiveId" clId="{C2A59028-725E-4941-ADB4-0C54A3394255}" dt="2026-10-08T03:19:43.979" v="40" actId="255"/>
          <ac:spMkLst>
            <pc:docMk/>
            <pc:sldMk cId="1594699679" sldId="286"/>
            <ac:spMk id="6146" creationId="{EE2613A3-B514-13B0-6C24-95766AF9ACDD}"/>
          </ac:spMkLst>
        </pc:spChg>
      </pc:sldChg>
      <pc:sldChg chg="add del">
        <pc:chgData name="Prem Reddy" userId="333efcd0544bb6ea" providerId="LiveId" clId="{C2A59028-725E-4941-ADB4-0C54A3394255}" dt="2026-10-08T03:18:37.974" v="31"/>
        <pc:sldMkLst>
          <pc:docMk/>
          <pc:sldMk cId="1132085795" sldId="287"/>
        </pc:sldMkLst>
      </pc:sldChg>
      <pc:sldChg chg="modSp add mod">
        <pc:chgData name="Prem Reddy" userId="333efcd0544bb6ea" providerId="LiveId" clId="{C2A59028-725E-4941-ADB4-0C54A3394255}" dt="2026-10-08T03:22:13.808" v="56"/>
        <pc:sldMkLst>
          <pc:docMk/>
          <pc:sldMk cId="1342803436" sldId="287"/>
        </pc:sldMkLst>
        <pc:spChg chg="mod">
          <ac:chgData name="Prem Reddy" userId="333efcd0544bb6ea" providerId="LiveId" clId="{C2A59028-725E-4941-ADB4-0C54A3394255}" dt="2026-10-08T03:21:58.905" v="54" actId="207"/>
          <ac:spMkLst>
            <pc:docMk/>
            <pc:sldMk cId="1342803436" sldId="287"/>
            <ac:spMk id="2" creationId="{4DC4F26A-6A00-DA80-1CB7-4CB93B96BB9D}"/>
          </ac:spMkLst>
        </pc:spChg>
        <pc:spChg chg="mod">
          <ac:chgData name="Prem Reddy" userId="333efcd0544bb6ea" providerId="LiveId" clId="{C2A59028-725E-4941-ADB4-0C54A3394255}" dt="2026-10-08T03:22:13.808" v="56"/>
          <ac:spMkLst>
            <pc:docMk/>
            <pc:sldMk cId="1342803436" sldId="287"/>
            <ac:spMk id="6146" creationId="{215C5A02-D802-17BE-2AF2-D7C5798D0AF9}"/>
          </ac:spMkLst>
        </pc:spChg>
      </pc:sldChg>
      <pc:sldChg chg="modSp add mod">
        <pc:chgData name="Prem Reddy" userId="333efcd0544bb6ea" providerId="LiveId" clId="{C2A59028-725E-4941-ADB4-0C54A3394255}" dt="2026-10-08T03:23:20.987" v="62" actId="255"/>
        <pc:sldMkLst>
          <pc:docMk/>
          <pc:sldMk cId="150748431" sldId="288"/>
        </pc:sldMkLst>
        <pc:spChg chg="mod">
          <ac:chgData name="Prem Reddy" userId="333efcd0544bb6ea" providerId="LiveId" clId="{C2A59028-725E-4941-ADB4-0C54A3394255}" dt="2026-10-08T03:22:47.852" v="59"/>
          <ac:spMkLst>
            <pc:docMk/>
            <pc:sldMk cId="150748431" sldId="288"/>
            <ac:spMk id="2" creationId="{F3032F9B-F868-7D3E-A495-27930457CDE5}"/>
          </ac:spMkLst>
        </pc:spChg>
        <pc:spChg chg="mod">
          <ac:chgData name="Prem Reddy" userId="333efcd0544bb6ea" providerId="LiveId" clId="{C2A59028-725E-4941-ADB4-0C54A3394255}" dt="2026-10-08T03:23:20.987" v="62" actId="255"/>
          <ac:spMkLst>
            <pc:docMk/>
            <pc:sldMk cId="150748431" sldId="288"/>
            <ac:spMk id="6146" creationId="{73D95D3A-1C79-5D19-ABE8-7E53117BD288}"/>
          </ac:spMkLst>
        </pc:spChg>
      </pc:sldChg>
      <pc:sldChg chg="add del">
        <pc:chgData name="Prem Reddy" userId="333efcd0544bb6ea" providerId="LiveId" clId="{C2A59028-725E-4941-ADB4-0C54A3394255}" dt="2026-10-08T03:21:23.643" v="52"/>
        <pc:sldMkLst>
          <pc:docMk/>
          <pc:sldMk cId="804265412" sldId="288"/>
        </pc:sldMkLst>
      </pc:sldChg>
      <pc:sldChg chg="modSp add mod">
        <pc:chgData name="Prem Reddy" userId="333efcd0544bb6ea" providerId="LiveId" clId="{C2A59028-725E-4941-ADB4-0C54A3394255}" dt="2026-10-08T03:24:16.907" v="69"/>
        <pc:sldMkLst>
          <pc:docMk/>
          <pc:sldMk cId="477834455" sldId="289"/>
        </pc:sldMkLst>
        <pc:spChg chg="mod">
          <ac:chgData name="Prem Reddy" userId="333efcd0544bb6ea" providerId="LiveId" clId="{C2A59028-725E-4941-ADB4-0C54A3394255}" dt="2026-10-08T03:23:57.621" v="67" actId="207"/>
          <ac:spMkLst>
            <pc:docMk/>
            <pc:sldMk cId="477834455" sldId="289"/>
            <ac:spMk id="2" creationId="{0025701F-F140-0F24-BB0D-F4A696869829}"/>
          </ac:spMkLst>
        </pc:spChg>
        <pc:spChg chg="mod">
          <ac:chgData name="Prem Reddy" userId="333efcd0544bb6ea" providerId="LiveId" clId="{C2A59028-725E-4941-ADB4-0C54A3394255}" dt="2026-10-08T03:24:16.907" v="69"/>
          <ac:spMkLst>
            <pc:docMk/>
            <pc:sldMk cId="477834455" sldId="289"/>
            <ac:spMk id="6146" creationId="{B36A108E-E05E-782D-6D52-3915E38B39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CA554-0715-FB2C-06EA-DB4E0EF9F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BAFB6-5C8F-3861-5D13-3D0193066E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95FB5B-B995-4ACE-9B50-70176FD534C9}" type="datetimeFigureOut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266124-7B76-713F-AC4A-84D44AE31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9315079-ABFB-5CDC-BDD2-A69CB2C20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1D13E-E761-0910-18B3-3FF9061A55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52785-6A10-0037-9114-C3719902D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EA9FA8-AD3E-4FEF-966F-CC2B62C5A2FB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D34C48B-9BDD-E127-9BE9-3CC4074A01CB}"/>
              </a:ext>
            </a:extLst>
          </p:cNvPr>
          <p:cNvSpPr/>
          <p:nvPr/>
        </p:nvSpPr>
        <p:spPr>
          <a:xfrm>
            <a:off x="0" y="0"/>
            <a:ext cx="12192000" cy="241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58D071-60E0-12AA-66A0-31C2A86B395B}"/>
              </a:ext>
            </a:extLst>
          </p:cNvPr>
          <p:cNvSpPr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solidFill>
                  <a:schemeClr val="tx1"/>
                </a:solidFill>
              </a:rPr>
              <a:t>MRCET | Department of Emerging Technologies | Application Development-II PPT| III Year </a:t>
            </a:r>
            <a:r>
              <a:rPr lang="en-IN" dirty="0" err="1">
                <a:solidFill>
                  <a:schemeClr val="tx1"/>
                </a:solidFill>
              </a:rPr>
              <a:t>B.Tech</a:t>
            </a:r>
            <a:r>
              <a:rPr lang="en-IN" dirty="0">
                <a:solidFill>
                  <a:schemeClr val="tx1"/>
                </a:solidFill>
              </a:rPr>
              <a:t>-II Semester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1BAD6379-3C6D-E3A6-4D55-56892459F5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77849AE-AA27-FB20-3314-67D5B3386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A97F5-51D5-48C9-A04B-694D7E97DD50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404934-4AB0-9DA0-3B91-7936332F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A69A630-1DBE-03C2-822B-7B56258D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6535D0-66D2-4CCB-B3EE-016560C39416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9904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F3459-03B2-28C2-8D65-6F47CA6C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40EE-A158-60BB-E391-EF7AEDC5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A35AC-CC4F-1B1F-CC87-E3CF1615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E6C9A7-468C-458E-9F7C-052780A2A0FE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3146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D048-1BBE-B893-45C6-A7A3DA9A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2A74-73F9-D50E-AC07-47D8FD3E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F1CB-6600-8165-5307-E42F70D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D7815-18A0-4E40-8483-DB8170A7B715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286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77EEB88-E57C-C475-4A97-57ABFFE0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07FB52-D117-ACC2-FDD5-022BB485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4C8874-FB09-332C-7FC2-EE2A4CBE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407FE-CD35-4B87-8D19-0265CE6504E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56134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B186566-376F-5AC3-D72D-ECC8372C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4DCBC90-C955-5ADB-8F84-EF85853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7F55E05-B5A4-9742-6346-18C8D0B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AC1EAA-A01F-476F-91B8-0E2358CD6C32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89162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B6B3AC-DD51-B0E2-7B47-33C59A14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1DC7FEA-3E62-726E-465A-13DF1D64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2F5CFD-BB03-7558-7298-AE75333F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DD79F-48B6-4051-A675-77EC23F40E8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71938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5E2A6DB-C67D-4898-0E6B-E7631783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60B26A8-8C9B-0FB3-29D0-ECFE49E0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F6FD27-A064-F8D9-E8BC-8FC1409E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37F468-150D-4002-8AC7-E595E2A7F82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0818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E97122-F2C9-45F2-9F48-8FCCA78F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53515D-E326-1D49-1465-59A7E7EE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84E547-94AA-6C8B-0D2F-C769D476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15560-1C4A-4C53-8017-1AF3B654BFB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9311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B46A54-2A5B-4735-B617-1F1E0EFF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8EADDC-A8CD-6C5D-2523-EB65EB6D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261261-D888-31CD-282F-6721C13D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B6704E-2107-48BA-A173-445058544970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2705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69CAB-5530-F57C-6414-F955DBCD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A6828-5E4B-76FE-2461-7D93997D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D89FB-69F4-8672-0341-DE6AD5FA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C1228-A340-475D-AD4C-D15C514F853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3932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3CA78-29E3-5B84-CE92-B12E5D5C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1215-66E9-8AE9-02AB-926E1762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E045-DE33-321A-F2F5-888435AA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29E6C-4BCB-431F-B912-D7839A9944F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3691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3F18F61-2E0D-25E8-13D9-F06769E188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3E417A6-B1A5-38DF-36E2-95154966AF9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A0148-5EFE-CA5A-BFC4-03AFDAD1A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08C0569-B07D-455D-9CB4-F21C7ADF99F5}" type="datetime1">
              <a:rPr lang="en-IN"/>
              <a:pPr>
                <a:defRPr/>
              </a:pPr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74C03-2969-8ED1-E0D0-84D778FD8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28E0-C687-04BB-C1D6-793711049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176963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C00000"/>
                </a:solidFill>
              </a:defRPr>
            </a:lvl1pPr>
          </a:lstStyle>
          <a:p>
            <a:fld id="{B4EE30B5-4645-4E9C-8BF9-98BB053AA61A}" type="slidenum">
              <a:rPr lang="en-IN" altLang="en-US"/>
              <a:pPr/>
              <a:t>‹#›</a:t>
            </a:fld>
            <a:endParaRPr lang="en-I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E1CDE-CCCF-0E47-8E0D-613B73171191}"/>
              </a:ext>
            </a:extLst>
          </p:cNvPr>
          <p:cNvSpPr/>
          <p:nvPr/>
        </p:nvSpPr>
        <p:spPr>
          <a:xfrm>
            <a:off x="0" y="0"/>
            <a:ext cx="12192000" cy="241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3AB26C-5998-9982-4698-9117F5FBFBE2}"/>
              </a:ext>
            </a:extLst>
          </p:cNvPr>
          <p:cNvSpPr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dirty="0">
                <a:solidFill>
                  <a:schemeClr val="tx1"/>
                </a:solidFill>
              </a:rPr>
              <a:t>MRCET | Department of Emerging Technologies | Application Development-II PPT| III Year </a:t>
            </a:r>
            <a:r>
              <a:rPr lang="en-IN" dirty="0" err="1">
                <a:solidFill>
                  <a:schemeClr val="tx1"/>
                </a:solidFill>
              </a:rPr>
              <a:t>B.Tech</a:t>
            </a:r>
            <a:r>
              <a:rPr lang="en-IN" dirty="0">
                <a:solidFill>
                  <a:schemeClr val="tx1"/>
                </a:solidFill>
              </a:rPr>
              <a:t>-II Semester</a:t>
            </a:r>
          </a:p>
        </p:txBody>
      </p:sp>
      <p:pic>
        <p:nvPicPr>
          <p:cNvPr id="1033" name="Picture 8">
            <a:extLst>
              <a:ext uri="{FF2B5EF4-FFF2-40B4-BE49-F238E27FC236}">
                <a16:creationId xmlns:a16="http://schemas.microsoft.com/office/drawing/2014/main" id="{BCAB8B0D-F508-6F24-6B0E-DFD2F19CF2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EE8DD0B3-9E97-80B6-0946-9B8670E51A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08150" y="420688"/>
            <a:ext cx="9191625" cy="1016000"/>
          </a:xfrm>
        </p:spPr>
        <p:txBody>
          <a:bodyPr/>
          <a:lstStyle/>
          <a:p>
            <a:pPr eaLnBrk="1" hangingPunct="1"/>
            <a:endParaRPr lang="en-IN" altLang="en-US" sz="2000" b="1">
              <a:latin typeface="Calibri" panose="020F0502020204030204" pitchFamily="34" charset="0"/>
            </a:endParaRPr>
          </a:p>
        </p:txBody>
      </p:sp>
      <p:sp>
        <p:nvSpPr>
          <p:cNvPr id="4099" name="Slide Number Placeholder 3">
            <a:extLst>
              <a:ext uri="{FF2B5EF4-FFF2-40B4-BE49-F238E27FC236}">
                <a16:creationId xmlns:a16="http://schemas.microsoft.com/office/drawing/2014/main" id="{F19761C9-D878-4EE5-58DF-7F1723CD6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BFA4059-F99A-4BFD-B255-EBB01C2367D2}" type="slidenum">
              <a:rPr lang="en-IN" altLang="en-US"/>
              <a:pPr/>
              <a:t>1</a:t>
            </a:fld>
            <a:endParaRPr lang="en-IN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1AC471-3A9C-852A-E8D1-9E9377831691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 Year – I Sem | Dept of CS&amp;IT | Project Review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DC241335-0C7E-F019-80EA-43E87A22BF4B}"/>
              </a:ext>
            </a:extLst>
          </p:cNvPr>
          <p:cNvSpPr/>
          <p:nvPr/>
        </p:nvSpPr>
        <p:spPr>
          <a:xfrm>
            <a:off x="-15875" y="-128588"/>
            <a:ext cx="12207875" cy="393701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IN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CC4146-9D91-958C-D4B3-3D690DC5D32F}"/>
              </a:ext>
            </a:extLst>
          </p:cNvPr>
          <p:cNvSpPr/>
          <p:nvPr/>
        </p:nvSpPr>
        <p:spPr>
          <a:xfrm>
            <a:off x="11261725" y="269875"/>
            <a:ext cx="914400" cy="550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F7DAECF-15C5-C011-2B20-53B6AF29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313" y="1939925"/>
            <a:ext cx="9385300" cy="46529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b="1" dirty="0"/>
              <a:t>Healthcare and Clinics </a:t>
            </a:r>
            <a:r>
              <a:rPr lang="en-US" sz="2800" b="1" dirty="0" err="1"/>
              <a:t>Moblie</a:t>
            </a:r>
            <a:r>
              <a:rPr lang="en-US" sz="2800" b="1" dirty="0"/>
              <a:t> App for  Patient self-service</a:t>
            </a:r>
          </a:p>
          <a:p>
            <a:pPr eaLnBrk="1" hangingPunct="1">
              <a:defRPr/>
            </a:pPr>
            <a:r>
              <a:rPr lang="en-IN" altLang="en-US" b="1" dirty="0">
                <a:solidFill>
                  <a:srgbClr val="FF0000"/>
                </a:solidFill>
              </a:rPr>
              <a:t>Team Members Details</a:t>
            </a:r>
          </a:p>
          <a:p>
            <a:pPr eaLnBrk="1" hangingPunct="1">
              <a:lnSpc>
                <a:spcPct val="50000"/>
              </a:lnSpc>
              <a:buFont typeface="Calibri Light" panose="020F0302020204030204" pitchFamily="34" charset="0"/>
              <a:buNone/>
              <a:defRPr/>
            </a:pPr>
            <a:r>
              <a:rPr lang="en-US" altLang="en-IN" b="1" dirty="0"/>
              <a:t>1.S.Raghuram Reddy</a:t>
            </a:r>
            <a:r>
              <a:rPr lang="en-IN" altLang="en-US" b="1" dirty="0"/>
              <a:t>– 2520090024</a:t>
            </a:r>
          </a:p>
          <a:p>
            <a:pPr eaLnBrk="1" hangingPunct="1">
              <a:lnSpc>
                <a:spcPct val="50000"/>
              </a:lnSpc>
              <a:buFont typeface="Calibri Light" panose="020F0302020204030204" pitchFamily="34" charset="0"/>
              <a:buNone/>
              <a:defRPr/>
            </a:pPr>
            <a:r>
              <a:rPr lang="en-US" altLang="en-IN" b="1" dirty="0"/>
              <a:t>  2.D.Nikhil Krishna     </a:t>
            </a:r>
            <a:r>
              <a:rPr lang="en-IN" altLang="en-US" b="1" dirty="0"/>
              <a:t>–   2</a:t>
            </a:r>
            <a:r>
              <a:rPr lang="en-US" altLang="en-US" b="1" dirty="0"/>
              <a:t>520090045</a:t>
            </a:r>
            <a:endParaRPr lang="en-US" altLang="en-IN" b="1" dirty="0"/>
          </a:p>
          <a:p>
            <a:pPr eaLnBrk="1" hangingPunct="1">
              <a:lnSpc>
                <a:spcPct val="50000"/>
              </a:lnSpc>
              <a:buFont typeface="Calibri Light" panose="020F0302020204030204" pitchFamily="34" charset="0"/>
              <a:buNone/>
              <a:defRPr/>
            </a:pPr>
            <a:r>
              <a:rPr lang="en-US" altLang="en-IN" b="1" dirty="0"/>
              <a:t>3.M.Prem </a:t>
            </a:r>
            <a:r>
              <a:rPr lang="en-US" altLang="en-IN" b="1" dirty="0" err="1"/>
              <a:t>Manikanta</a:t>
            </a:r>
            <a:r>
              <a:rPr lang="en-US" altLang="en-IN" b="1" dirty="0"/>
              <a:t> Reddy</a:t>
            </a:r>
            <a:r>
              <a:rPr lang="en-IN" altLang="en-US" b="1" dirty="0"/>
              <a:t>–   2520090045</a:t>
            </a:r>
            <a:endParaRPr lang="en-US" altLang="en-IN" b="1" dirty="0"/>
          </a:p>
          <a:p>
            <a:pPr eaLnBrk="1" hangingPunct="1">
              <a:buFont typeface="Calibri Light" panose="020F0302020204030204" pitchFamily="34" charset="0"/>
              <a:buNone/>
              <a:defRPr/>
            </a:pPr>
            <a:r>
              <a:rPr lang="en-IN" altLang="en-US" dirty="0"/>
              <a:t>II Year </a:t>
            </a:r>
            <a:r>
              <a:rPr lang="en-IN" altLang="en-US" dirty="0" err="1"/>
              <a:t>B.Tech</a:t>
            </a:r>
            <a:r>
              <a:rPr lang="en-IN" altLang="en-US" dirty="0"/>
              <a:t>-I Semester – CS&amp;IT</a:t>
            </a:r>
          </a:p>
          <a:p>
            <a:pPr eaLnBrk="1" hangingPunct="1">
              <a:lnSpc>
                <a:spcPct val="50000"/>
              </a:lnSpc>
              <a:defRPr/>
            </a:pPr>
            <a:r>
              <a:rPr lang="en-US" altLang="en-IN" b="1" dirty="0"/>
              <a:t>Under the Guidance of</a:t>
            </a:r>
            <a:r>
              <a:rPr lang="en-US" altLang="en-IN" b="1" dirty="0">
                <a:solidFill>
                  <a:srgbClr val="FF0000"/>
                </a:solidFill>
              </a:rPr>
              <a:t> </a:t>
            </a:r>
          </a:p>
          <a:p>
            <a:pPr eaLnBrk="1" hangingPunct="1">
              <a:lnSpc>
                <a:spcPct val="50000"/>
              </a:lnSpc>
              <a:defRPr/>
            </a:pPr>
            <a:r>
              <a:rPr lang="en-US" altLang="en-IN" b="1" dirty="0">
                <a:solidFill>
                  <a:srgbClr val="FF0000"/>
                </a:solidFill>
              </a:rPr>
              <a:t>Dr.M Gayatri</a:t>
            </a:r>
          </a:p>
          <a:p>
            <a:pPr eaLnBrk="1" hangingPunct="1">
              <a:lnSpc>
                <a:spcPct val="50000"/>
              </a:lnSpc>
              <a:defRPr/>
            </a:pPr>
            <a:r>
              <a:rPr lang="en-US" altLang="en-IN" dirty="0"/>
              <a:t>Associate </a:t>
            </a:r>
            <a:r>
              <a:rPr lang="en-IN" altLang="en-US" dirty="0"/>
              <a:t>Professor </a:t>
            </a:r>
            <a:endParaRPr lang="en-US" altLang="en-IN" b="1" dirty="0">
              <a:solidFill>
                <a:srgbClr val="FF0000"/>
              </a:solidFill>
            </a:endParaRPr>
          </a:p>
        </p:txBody>
      </p:sp>
      <p:pic>
        <p:nvPicPr>
          <p:cNvPr id="4104" name="Picture 1">
            <a:extLst>
              <a:ext uri="{FF2B5EF4-FFF2-40B4-BE49-F238E27FC236}">
                <a16:creationId xmlns:a16="http://schemas.microsoft.com/office/drawing/2014/main" id="{0A6684D6-679B-0DB1-CFF1-A97E5B6A7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38" y="595313"/>
            <a:ext cx="8805862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D4BFE-44B2-585A-B95A-07F8FCC7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70B3-14D4-B059-776F-75FCC4AB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3600" b="1" dirty="0">
                <a:solidFill>
                  <a:schemeClr val="accent1"/>
                </a:solidFill>
              </a:rPr>
              <a:t>The Challenges of Traditional Healthcare Management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EE2613A3-B514-13B0-6C24-95766AF9AC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pPr lvl="0"/>
            <a:r>
              <a:rPr lang="en-IN" sz="2000" dirty="0"/>
              <a:t>Patients often need to </a:t>
            </a:r>
            <a:r>
              <a:rPr lang="en-IN" sz="2000" b="1" dirty="0"/>
              <a:t>visit clinics physically</a:t>
            </a:r>
            <a:r>
              <a:rPr lang="en-IN" sz="2000" dirty="0"/>
              <a:t> for basic services.</a:t>
            </a:r>
          </a:p>
          <a:p>
            <a:pPr lvl="0"/>
            <a:r>
              <a:rPr lang="en-IN" sz="2000" dirty="0"/>
              <a:t>Appointment booking may require </a:t>
            </a:r>
            <a:r>
              <a:rPr lang="en-IN" sz="2000" b="1" dirty="0"/>
              <a:t>phone calls or reception staff</a:t>
            </a:r>
            <a:r>
              <a:rPr lang="en-IN" sz="2000" dirty="0"/>
              <a:t>.</a:t>
            </a:r>
          </a:p>
          <a:p>
            <a:pPr lvl="0"/>
            <a:r>
              <a:rPr lang="en-IN" sz="2000" dirty="0"/>
              <a:t>Patients may experience </a:t>
            </a:r>
            <a:r>
              <a:rPr lang="en-IN" sz="2000" b="1" dirty="0"/>
              <a:t>long waiting times</a:t>
            </a:r>
            <a:r>
              <a:rPr lang="en-IN" sz="2000" dirty="0"/>
              <a:t>.</a:t>
            </a:r>
          </a:p>
          <a:p>
            <a:pPr lvl="0"/>
            <a:r>
              <a:rPr lang="en-IN" sz="2000" dirty="0"/>
              <a:t>Doctor availability may not be easily accessible.</a:t>
            </a:r>
          </a:p>
          <a:p>
            <a:pPr lvl="0"/>
            <a:r>
              <a:rPr lang="en-IN" sz="2000" dirty="0"/>
              <a:t>Medical records and prescriptions can be difficult to access.</a:t>
            </a:r>
          </a:p>
          <a:p>
            <a:pPr lvl="0"/>
            <a:r>
              <a:rPr lang="en-IN" sz="2000" dirty="0"/>
              <a:t>Manual management can lead to </a:t>
            </a:r>
            <a:r>
              <a:rPr lang="en-IN" sz="2000" b="1" dirty="0"/>
              <a:t>errors and scheduling conflicts</a:t>
            </a:r>
            <a:r>
              <a:rPr lang="en-IN" sz="2000" dirty="0"/>
              <a:t>.</a:t>
            </a:r>
          </a:p>
          <a:p>
            <a:pPr lvl="0"/>
            <a:r>
              <a:rPr lang="en-IN" sz="2000" dirty="0"/>
              <a:t>Patients may not receive </a:t>
            </a:r>
            <a:r>
              <a:rPr lang="en-IN" sz="2000" b="1" dirty="0"/>
              <a:t>timely appointment reminders</a:t>
            </a:r>
            <a:r>
              <a:rPr lang="en-IN" sz="2000" dirty="0"/>
              <a:t>.</a:t>
            </a:r>
          </a:p>
          <a:p>
            <a:pPr lvl="0"/>
            <a:r>
              <a:rPr lang="en-IN" sz="2000" dirty="0"/>
              <a:t>Clinic staff may face difficulties managing many patients efficiently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88A8853C-C0F4-CE3B-CE98-7BAE68017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2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ED90B43-F623-CCD6-A7BB-61ABDF4CDB1C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4B00394E-F7BE-867D-DBE2-7039E64C7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69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6249-81B7-499A-2D42-22EDC61B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6AB7-40B1-B938-860F-9F669052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5400" b="1" dirty="0">
                <a:solidFill>
                  <a:schemeClr val="accent1"/>
                </a:solidFill>
              </a:rPr>
              <a:t>Problem Statement</a:t>
            </a:r>
            <a:endParaRPr lang="en-IN" sz="489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B33C20DE-9B52-F0CC-CC81-6BB7FD5411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r>
              <a:rPr lang="en-IN" sz="1600" dirty="0"/>
              <a:t>Patients often face problems in </a:t>
            </a:r>
            <a:r>
              <a:rPr lang="en-IN" sz="1600" b="1" dirty="0"/>
              <a:t>booking appointments, checking doctor availability, and accessing medical information</a:t>
            </a:r>
            <a:r>
              <a:rPr lang="en-IN" sz="1600" dirty="0"/>
              <a:t>. Traditional methods may require phone calls or physical visits to clinics, resulting in </a:t>
            </a:r>
            <a:r>
              <a:rPr lang="en-IN" sz="1600" b="1" dirty="0"/>
              <a:t>long waiting times and inconvenience</a:t>
            </a:r>
            <a:r>
              <a:rPr lang="en-IN" sz="1600" dirty="0"/>
              <a:t>.</a:t>
            </a:r>
          </a:p>
          <a:p>
            <a:r>
              <a:rPr lang="en-IN" sz="1600" dirty="0"/>
              <a:t>Medical records, prescriptions, and reports may also be difficult to access when they are maintained using </a:t>
            </a:r>
            <a:r>
              <a:rPr lang="en-IN" sz="1600" b="1" dirty="0"/>
              <a:t>paper-based or separate systems</a:t>
            </a:r>
            <a:r>
              <a:rPr lang="en-IN" sz="1600" dirty="0"/>
              <a:t>. Clinic staff may face difficulties in managing large numbers of patients and appointments efficiently.</a:t>
            </a:r>
          </a:p>
          <a:p>
            <a:pPr lvl="0"/>
            <a:r>
              <a:rPr lang="en-IN" sz="1600" b="1" dirty="0"/>
              <a:t>Doctor availability</a:t>
            </a:r>
            <a:r>
              <a:rPr lang="en-IN" sz="1600" dirty="0"/>
              <a:t> may not be easily visible to patients.</a:t>
            </a:r>
          </a:p>
          <a:p>
            <a:pPr lvl="0"/>
            <a:r>
              <a:rPr lang="en-IN" sz="1600" dirty="0"/>
              <a:t>Managing appointments manually can cause </a:t>
            </a:r>
            <a:r>
              <a:rPr lang="en-IN" sz="1600" b="1" dirty="0"/>
              <a:t>scheduling conflicts and errors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Patients may have difficulty accessing </a:t>
            </a:r>
            <a:r>
              <a:rPr lang="en-IN" sz="1600" b="1" dirty="0"/>
              <a:t>prescriptions and medical reports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Medical records may be maintained using </a:t>
            </a:r>
            <a:r>
              <a:rPr lang="en-IN" sz="1600" b="1" dirty="0"/>
              <a:t>paper-based or separate systems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Appointment reminders may be </a:t>
            </a:r>
            <a:r>
              <a:rPr lang="en-IN" sz="1600" b="1" dirty="0"/>
              <a:t>manual or unavailable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Clinic staff may find it difficult to manage a </a:t>
            </a:r>
            <a:r>
              <a:rPr lang="en-IN" sz="1600" b="1" dirty="0"/>
              <a:t>large number of patients</a:t>
            </a:r>
            <a:r>
              <a:rPr lang="en-IN" sz="1600" dirty="0"/>
              <a:t> efficiently.</a:t>
            </a:r>
          </a:p>
          <a:p>
            <a:pPr lvl="0"/>
            <a:r>
              <a:rPr lang="en-IN" sz="1600" dirty="0"/>
              <a:t>Patients have </a:t>
            </a:r>
            <a:r>
              <a:rPr lang="en-IN" sz="1600" b="1" dirty="0"/>
              <a:t>limited access to healthcare services outside clinic hours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Communication between </a:t>
            </a:r>
            <a:r>
              <a:rPr lang="en-IN" sz="1600" b="1" dirty="0"/>
              <a:t>patients, doctors, and clinic staff</a:t>
            </a:r>
            <a:r>
              <a:rPr lang="en-IN" sz="1600" dirty="0"/>
              <a:t> may be inefficient.</a:t>
            </a:r>
          </a:p>
          <a:p>
            <a:pPr lvl="0"/>
            <a:r>
              <a:rPr lang="en-IN" sz="1600" dirty="0"/>
              <a:t>Managing patient information manually can require </a:t>
            </a:r>
            <a:r>
              <a:rPr lang="en-IN" sz="1600" b="1" dirty="0"/>
              <a:t>more time and effort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There is a need for a </a:t>
            </a:r>
            <a:r>
              <a:rPr lang="en-IN" sz="1600" b="1" dirty="0"/>
              <a:t>centralized platform</a:t>
            </a:r>
            <a:r>
              <a:rPr lang="en-IN" sz="1600" dirty="0"/>
              <a:t> to manage healthcare services conveniently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DAE9ED5C-BFDC-3991-B508-2FD2CF3004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3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1075104-402E-D07E-2769-9BB3DEF282B3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B58F9BB3-E0CA-27E8-4E17-4FD26D2A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33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DCAE-416B-2F2D-C897-6DD72B96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78C5-B03B-A00B-CAA3-0919096F4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5400" b="1" dirty="0">
                <a:solidFill>
                  <a:schemeClr val="accent1"/>
                </a:solidFill>
              </a:rPr>
              <a:t>Core Functionalities</a:t>
            </a:r>
            <a:endParaRPr lang="en-IN" sz="489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709880B3-0326-03D2-6C4E-049A262823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pPr lvl="0"/>
            <a:r>
              <a:rPr lang="en-IN" sz="1600" b="1" dirty="0"/>
              <a:t>Patient Registration &amp; Login</a:t>
            </a:r>
            <a:r>
              <a:rPr lang="en-IN" sz="1600" dirty="0"/>
              <a:t> – Create and securely access patient accounts.</a:t>
            </a:r>
          </a:p>
          <a:p>
            <a:pPr lvl="0"/>
            <a:r>
              <a:rPr lang="en-IN" sz="1600" b="1" dirty="0"/>
              <a:t>Doctor Search</a:t>
            </a:r>
            <a:r>
              <a:rPr lang="en-IN" sz="1600" dirty="0"/>
              <a:t> – Search doctors based on specialization and availability.</a:t>
            </a:r>
          </a:p>
          <a:p>
            <a:pPr lvl="0"/>
            <a:r>
              <a:rPr lang="en-IN" sz="1600" b="1" dirty="0"/>
              <a:t>Appointment Booking</a:t>
            </a:r>
            <a:r>
              <a:rPr lang="en-IN" sz="1600" dirty="0"/>
              <a:t> – View available slots and book appointments.</a:t>
            </a:r>
          </a:p>
          <a:p>
            <a:pPr lvl="0"/>
            <a:r>
              <a:rPr lang="en-IN" sz="1600" b="1" dirty="0"/>
              <a:t>Appointment Management</a:t>
            </a:r>
            <a:r>
              <a:rPr lang="en-IN" sz="1600" dirty="0"/>
              <a:t> – View, cancel, and manage appointments.</a:t>
            </a:r>
          </a:p>
          <a:p>
            <a:pPr lvl="0"/>
            <a:r>
              <a:rPr lang="en-IN" sz="1600" b="1" dirty="0"/>
              <a:t>Medical Records</a:t>
            </a:r>
            <a:r>
              <a:rPr lang="en-IN" sz="1600" dirty="0"/>
              <a:t> – Access prescriptions, reports, diagnoses, and treatment history.</a:t>
            </a:r>
          </a:p>
          <a:p>
            <a:pPr lvl="0"/>
            <a:r>
              <a:rPr lang="en-IN" sz="1600" b="1" dirty="0"/>
              <a:t>Notifications &amp; Reminders</a:t>
            </a:r>
            <a:r>
              <a:rPr lang="en-IN" sz="1600" dirty="0"/>
              <a:t> – Receive appointment and healthcare updates.</a:t>
            </a:r>
          </a:p>
          <a:p>
            <a:pPr lvl="0"/>
            <a:r>
              <a:rPr lang="en-IN" sz="1600" b="1" dirty="0"/>
              <a:t>Patient Profile Management</a:t>
            </a:r>
            <a:r>
              <a:rPr lang="en-IN" sz="1600" dirty="0"/>
              <a:t> – Manage personal and healthcare information.</a:t>
            </a:r>
          </a:p>
          <a:p>
            <a:pPr lvl="0"/>
            <a:r>
              <a:rPr lang="en-IN" sz="1600" b="1" dirty="0"/>
              <a:t>Clinic Management</a:t>
            </a:r>
            <a:r>
              <a:rPr lang="en-IN" sz="1600" dirty="0"/>
              <a:t> – Help staff manage doctors, appointments, and patient information.</a:t>
            </a:r>
          </a:p>
          <a:p>
            <a:pPr lvl="0"/>
            <a:r>
              <a:rPr lang="en-IN" sz="1600" b="1" dirty="0"/>
              <a:t>Secure Data Access</a:t>
            </a:r>
            <a:r>
              <a:rPr lang="en-IN" sz="1600" dirty="0"/>
              <a:t> – Protect sensitive patient information through secure authentication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3594DC68-445A-AC11-4EB2-F0106546C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4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CCF0F710-2C8A-23F6-3026-E72B59BA67C1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AC255DB1-54DE-786D-44FB-0B756ED8A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3204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FA6E-855B-ED0F-EDCD-445A8AE6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F26A-6A00-DA80-1CB7-4CB93B96B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5400" dirty="0">
                <a:solidFill>
                  <a:schemeClr val="accent1"/>
                </a:solidFill>
              </a:rPr>
              <a:t>Software &amp; Technology Stack</a:t>
            </a:r>
            <a:endParaRPr lang="en-IN" sz="489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215C5A02-D802-17BE-2AF2-D7C5798D0A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r>
              <a:rPr lang="en-IN" sz="1600" b="1" dirty="0"/>
              <a:t>Software:</a:t>
            </a:r>
            <a:endParaRPr lang="en-IN" sz="1600" dirty="0"/>
          </a:p>
          <a:p>
            <a:pPr lvl="0"/>
            <a:r>
              <a:rPr lang="en-IN" sz="1600" dirty="0"/>
              <a:t>MySQL</a:t>
            </a:r>
          </a:p>
          <a:p>
            <a:pPr lvl="0"/>
            <a:r>
              <a:rPr lang="en-IN" sz="1600" dirty="0"/>
              <a:t>MySQL Workbench</a:t>
            </a:r>
          </a:p>
          <a:p>
            <a:r>
              <a:rPr lang="en-IN" sz="1600" b="1" dirty="0"/>
              <a:t>Technology:</a:t>
            </a:r>
            <a:endParaRPr lang="en-IN" sz="1600" dirty="0"/>
          </a:p>
          <a:p>
            <a:pPr lvl="0"/>
            <a:r>
              <a:rPr lang="en-IN" sz="1600" dirty="0"/>
              <a:t>SQL</a:t>
            </a:r>
          </a:p>
          <a:p>
            <a:pPr lvl="0"/>
            <a:r>
              <a:rPr lang="en-IN" sz="1600" dirty="0"/>
              <a:t>Relational Database</a:t>
            </a:r>
          </a:p>
          <a:p>
            <a:r>
              <a:rPr lang="en-IN" sz="1600" b="1" dirty="0"/>
              <a:t>Platform:</a:t>
            </a:r>
            <a:endParaRPr lang="en-IN" sz="1600" dirty="0"/>
          </a:p>
          <a:p>
            <a:pPr lvl="0"/>
            <a:r>
              <a:rPr lang="en-IN" sz="1600" dirty="0"/>
              <a:t>Windows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4921C523-DDD9-F8C5-E538-AC764E3635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5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4BA1364-DDB0-C8F3-9D30-F93FCEDA700C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646B98F9-5EAE-0CD2-21C4-3B59BCB10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280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2F80-CE2A-A293-5564-0691698F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2F9B-F868-7D3E-A495-27930457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5400" dirty="0"/>
              <a:t>Database Methodology &amp; Architecture</a:t>
            </a:r>
            <a:endParaRPr lang="en-IN" sz="489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73D95D3A-1C79-5D19-ABE8-7E53117BD2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r>
              <a:rPr lang="en-IN" sz="1400" b="1" dirty="0"/>
              <a:t>Main Tables:</a:t>
            </a:r>
            <a:endParaRPr lang="en-IN" sz="1400" dirty="0"/>
          </a:p>
          <a:p>
            <a:pPr lvl="0"/>
            <a:r>
              <a:rPr lang="en-IN" sz="1400" dirty="0"/>
              <a:t>Patients</a:t>
            </a:r>
          </a:p>
          <a:p>
            <a:pPr lvl="0"/>
            <a:r>
              <a:rPr lang="en-IN" sz="1400" dirty="0"/>
              <a:t>Doctors</a:t>
            </a:r>
          </a:p>
          <a:p>
            <a:pPr lvl="0"/>
            <a:r>
              <a:rPr lang="en-IN" sz="1400" dirty="0"/>
              <a:t>Appointments</a:t>
            </a:r>
          </a:p>
          <a:p>
            <a:pPr lvl="0"/>
            <a:r>
              <a:rPr lang="en-IN" sz="1400" dirty="0" err="1"/>
              <a:t>Medical_Records</a:t>
            </a:r>
            <a:endParaRPr lang="en-IN" sz="1400" dirty="0"/>
          </a:p>
          <a:p>
            <a:pPr lvl="0"/>
            <a:r>
              <a:rPr lang="en-IN" sz="1400" dirty="0"/>
              <a:t>Prescriptions</a:t>
            </a:r>
          </a:p>
          <a:p>
            <a:pPr lvl="0"/>
            <a:r>
              <a:rPr lang="en-IN" sz="1400" dirty="0"/>
              <a:t>Notifications</a:t>
            </a:r>
          </a:p>
          <a:p>
            <a:r>
              <a:rPr lang="en-IN" sz="1400" b="1" dirty="0"/>
              <a:t>Database Methodology:</a:t>
            </a:r>
            <a:endParaRPr lang="en-IN" sz="1400" dirty="0"/>
          </a:p>
          <a:p>
            <a:pPr lvl="0"/>
            <a:r>
              <a:rPr lang="en-IN" sz="1400" dirty="0"/>
              <a:t>Primary Keys</a:t>
            </a:r>
          </a:p>
          <a:p>
            <a:pPr lvl="0"/>
            <a:r>
              <a:rPr lang="en-IN" sz="1400" dirty="0"/>
              <a:t>Foreign Keys</a:t>
            </a:r>
          </a:p>
          <a:p>
            <a:pPr lvl="0"/>
            <a:r>
              <a:rPr lang="en-IN" sz="1400" dirty="0"/>
              <a:t>Table Relationships</a:t>
            </a:r>
          </a:p>
          <a:p>
            <a:pPr lvl="0"/>
            <a:r>
              <a:rPr lang="en-IN" sz="1400" dirty="0"/>
              <a:t>SQL Queries</a:t>
            </a:r>
          </a:p>
          <a:p>
            <a:pPr lvl="0"/>
            <a:r>
              <a:rPr lang="en-IN" sz="1400" dirty="0"/>
              <a:t>Data Validation</a:t>
            </a:r>
          </a:p>
          <a:p>
            <a:pPr lvl="0"/>
            <a:r>
              <a:rPr lang="en-IN" sz="1400" dirty="0"/>
              <a:t>Secure Data Storage</a:t>
            </a:r>
          </a:p>
          <a:p>
            <a:r>
              <a:rPr lang="en-IN" sz="1400" b="1" dirty="0"/>
              <a:t>Architecture:</a:t>
            </a:r>
            <a:endParaRPr lang="en-IN" sz="1400" dirty="0"/>
          </a:p>
          <a:p>
            <a:r>
              <a:rPr lang="en-IN" sz="1400" b="1" dirty="0"/>
              <a:t>Patients → Doctors → Appointments → Medical Records → Prescriptions → Notifications</a:t>
            </a:r>
            <a:endParaRPr lang="en-IN" sz="1400" dirty="0"/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3C0F8049-F0E7-9EB8-02DF-9A0AEED60C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6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9A8D0295-82CF-2D74-C067-CCE3C3C10813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2035D1B7-A99F-66E0-3026-211EFBAD8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4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6F24-6BBD-F8C8-A4A1-5B0E76C6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701F-F140-0F24-BB0D-F4A69686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10515600" cy="598488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chemeClr val="accent1"/>
                </a:solidFill>
              </a:rPr>
              <a:t>Expected Outcomes &amp; Benefits</a:t>
            </a:r>
            <a:br>
              <a:rPr lang="en-IN" altLang="en-US" sz="3600" b="1" dirty="0">
                <a:solidFill>
                  <a:schemeClr val="accent1"/>
                </a:solidFill>
              </a:rPr>
            </a:b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B36A108E-E05E-782D-6D52-3915E38B3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081088"/>
            <a:ext cx="10515600" cy="5095875"/>
          </a:xfrm>
        </p:spPr>
        <p:txBody>
          <a:bodyPr/>
          <a:lstStyle/>
          <a:p>
            <a:pPr lvl="0"/>
            <a:r>
              <a:rPr lang="en-IN" sz="1400" b="1" dirty="0"/>
              <a:t>Reduced waiting time</a:t>
            </a:r>
            <a:r>
              <a:rPr lang="en-IN" sz="1400" dirty="0"/>
              <a:t> for patients.</a:t>
            </a:r>
          </a:p>
          <a:p>
            <a:pPr lvl="0"/>
            <a:r>
              <a:rPr lang="en-IN" sz="1400" b="1" dirty="0"/>
              <a:t>Easy online appointment booking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Quick access to doctor availability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Easy access to medical records and prescriptions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Timely appointment reminders and notifications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Better management of patient information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Improved coordination between patients, doctors, and clinic staff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Reduced manual work and errors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Secure management of healthcare information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Improved overall patient experience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/>
              <a:t>More efficient and organized healthcare services</a:t>
            </a:r>
            <a:r>
              <a:rPr lang="en-IN" sz="1400" dirty="0"/>
              <a:t>. 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D6F9A9AC-16AD-115E-E570-0FF2056F8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7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FF25C307-0714-688F-C8CE-119315FCE5E8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FA279202-3E38-E70C-4D02-D11FA8AF3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7834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C776-C918-D02B-4442-3E298741B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CFDE-2AE7-64AE-7E63-8DD10B9A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641405"/>
            <a:ext cx="10515600" cy="5984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9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9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Slide Number Placeholder 2">
            <a:extLst>
              <a:ext uri="{FF2B5EF4-FFF2-40B4-BE49-F238E27FC236}">
                <a16:creationId xmlns:a16="http://schemas.microsoft.com/office/drawing/2014/main" id="{524079AF-355F-E174-E56A-56E1BF34D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585E1F-8B6B-436A-815D-F8BB773285A1}" type="slidenum">
              <a:rPr lang="en-IN" altLang="en-US"/>
              <a:pPr/>
              <a:t>8</a:t>
            </a:fld>
            <a:endParaRPr lang="en-IN" altLang="en-US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9DD26C76-2D33-A828-84A8-B6D7EF94BA8E}"/>
              </a:ext>
            </a:extLst>
          </p:cNvPr>
          <p:cNvSpPr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IN" sz="1600" b="1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B.Tech</a:t>
            </a:r>
            <a:r>
              <a:rPr lang="en-IN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II Year – I Sem | Dept of Computational Intelligence| Application Development  | Project Review</a:t>
            </a:r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id="{04B6D93B-12DE-1903-0BA1-7CCBAB6D9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75" y="0"/>
            <a:ext cx="18653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97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730</Words>
  <Application>Microsoft Office PowerPoint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Times New Roman</vt:lpstr>
      <vt:lpstr>Office Theme</vt:lpstr>
      <vt:lpstr>PowerPoint Presentation</vt:lpstr>
      <vt:lpstr>The Challenges of Traditional Healthcare Management</vt:lpstr>
      <vt:lpstr>Problem Statement</vt:lpstr>
      <vt:lpstr>Core Functionalities</vt:lpstr>
      <vt:lpstr>Software &amp; Technology Stack</vt:lpstr>
      <vt:lpstr>Database Methodology &amp; Architecture</vt:lpstr>
      <vt:lpstr>Expected Outcomes &amp; Benefits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 V Kamal</dc:creator>
  <cp:lastModifiedBy>Prem Reddy</cp:lastModifiedBy>
  <cp:revision>54</cp:revision>
  <dcterms:created xsi:type="dcterms:W3CDTF">2022-09-15T14:17:00Z</dcterms:created>
  <dcterms:modified xsi:type="dcterms:W3CDTF">2026-10-08T03:24:27Z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CA684AD55E314E5EB50F5E4221BF87A5_13</vt:lpwstr>
  </property>
  <property fmtid="{D5CDD505-2E9C-101B-9397-08002B2CF9AE}" pid="3" name="KSOProductBuildVer">
    <vt:lpwstr>1033-12.1.0.28032</vt:lpwstr>
  </property>
</Properties>
</file>